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Roboto Mon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6EC284-F4D4-49F0-857B-E200EED11F79}">
  <a:tblStyle styleId="{3E6EC284-F4D4-49F0-857B-E200EED11F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Mono-bold.fntdata"/><Relationship Id="rId47" Type="http://schemas.openxmlformats.org/officeDocument/2006/relationships/font" Target="fonts/RobotoMono-regular.fntdata"/><Relationship Id="rId49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bb06d35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bb06d35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dbb06d35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dbb06d35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dbb06d35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dbb06d35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dbb06d35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dbb06d35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dbb06d35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dbb06d3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dbb06d35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dbb06d35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dbb06d35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dbb06d35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dbb06d35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dbb06d35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dbb06d35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dbb06d35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dbb06d35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dbb06d35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dbb06d35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dbb06d35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dea70393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dea70393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ea70393e_1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dea70393e_1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dea70393e_1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dea70393e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dea70393e_1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dea70393e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dea70393e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dea70393e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dea70393e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dea70393e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dea70393e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dea70393e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dea70393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dea70393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dea70393e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dea70393e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dea70393e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dea70393e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dea70393e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dea70393e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dea70393e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dea70393e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dea70393e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dea70393e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dea70393e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dea70393e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dea70393e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dea70393e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dea70393e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dea70393e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dea70393e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dea70393e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dea70393e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dea70393e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dea70393e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dea70393e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dea70393e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dea70393e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dea70393e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edea70393e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dea70393e_1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dea70393e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dea70393e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edea70393e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dea70393e_1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edea70393e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dea70393e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dea70393e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dea70393e_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dea70393e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dea70393e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edea70393e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dea70393e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dea70393e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Predicting ECG Diagnosis using Machine Learning and Deep Learning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9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100">
                <a:solidFill>
                  <a:schemeClr val="dk1"/>
                </a:solidFill>
              </a:rPr>
              <a:t>Course:</a:t>
            </a:r>
            <a:r>
              <a:rPr lang="pl" sz="1100">
                <a:solidFill>
                  <a:schemeClr val="dk1"/>
                </a:solidFill>
              </a:rPr>
              <a:t> Introduction to Artificial Intelligence (Summer 2026)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100">
                <a:solidFill>
                  <a:schemeClr val="dk1"/>
                </a:solidFill>
              </a:rPr>
              <a:t>Authors:</a:t>
            </a:r>
            <a:r>
              <a:rPr lang="pl" sz="1100">
                <a:solidFill>
                  <a:schemeClr val="dk1"/>
                </a:solidFill>
              </a:rPr>
              <a:t> Jan Czerwienko, Aleksander Mogiła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100">
                <a:solidFill>
                  <a:schemeClr val="dk1"/>
                </a:solidFill>
              </a:rPr>
              <a:t>Abstract:</a:t>
            </a:r>
            <a:r>
              <a:rPr lang="pl" sz="1100">
                <a:solidFill>
                  <a:schemeClr val="dk1"/>
                </a:solidFill>
              </a:rPr>
              <a:t> Multi-class classification of 12-lead ECG signals using the CPSC-2018 dataset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Dataset Architecture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600">
                <a:solidFill>
                  <a:schemeClr val="dk1"/>
                </a:solidFill>
              </a:rPr>
              <a:t>Binary Data (.mat):</a:t>
            </a:r>
            <a:r>
              <a:rPr lang="pl" sz="1600">
                <a:solidFill>
                  <a:schemeClr val="dk1"/>
                </a:solidFill>
              </a:rPr>
              <a:t> Stores the raw electrical activity of the heart across all 12 spatial leads as a high-dimensional matrix. It cannot be read as plain text and requires the </a:t>
            </a:r>
            <a:r>
              <a:rPr lang="pl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wfdb</a:t>
            </a:r>
            <a:r>
              <a:rPr lang="pl" sz="1600">
                <a:solidFill>
                  <a:schemeClr val="dk1"/>
                </a:solidFill>
              </a:rPr>
              <a:t> library.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Technical Headers (.hea):</a:t>
            </a:r>
            <a:r>
              <a:rPr lang="pl" sz="1600">
                <a:solidFill>
                  <a:schemeClr val="dk1"/>
                </a:solidFill>
              </a:rPr>
              <a:t> Text metadata containing recording parameters (duration, number of leads, sampling frequency) and hardware-to-voltage scaling calibrations (Scale, Baseline, Checksum).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Clinical Metadata:</a:t>
            </a:r>
            <a:r>
              <a:rPr lang="pl" sz="1600">
                <a:solidFill>
                  <a:schemeClr val="dk1"/>
                </a:solidFill>
              </a:rPr>
              <a:t> Embedded at the bottom of the header file, tracking medical demographics (Age, Sex) and clinical classification codes (Diagnosis, Medications, History).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Diagnosis Distribution &amp; Class Imbalance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600">
                <a:solidFill>
                  <a:schemeClr val="dk1"/>
                </a:solidFill>
              </a:rPr>
              <a:t>Dataset Scale:</a:t>
            </a:r>
            <a:r>
              <a:rPr lang="pl" sz="1600">
                <a:solidFill>
                  <a:schemeClr val="dk1"/>
                </a:solidFill>
              </a:rPr>
              <a:t> 6,877 unique patient records spanning 9 distinct diagnostic categories.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600">
                <a:solidFill>
                  <a:schemeClr val="dk1"/>
                </a:solidFill>
              </a:rPr>
              <a:t>Severe Class Imbalance:</a:t>
            </a:r>
            <a:r>
              <a:rPr lang="pl" sz="1600">
                <a:solidFill>
                  <a:schemeClr val="dk1"/>
                </a:solidFill>
              </a:rPr>
              <a:t> The most frequent class (</a:t>
            </a:r>
            <a:r>
              <a:rPr lang="pl" sz="1600">
                <a:solidFill>
                  <a:srgbClr val="188038"/>
                </a:solidFill>
              </a:rPr>
              <a:t>59118001</a:t>
            </a:r>
            <a:r>
              <a:rPr lang="pl" sz="1600">
                <a:solidFill>
                  <a:schemeClr val="dk1"/>
                </a:solidFill>
              </a:rPr>
              <a:t>) has 1,857 samples, while the rarest (</a:t>
            </a:r>
            <a:r>
              <a:rPr lang="pl" sz="1600">
                <a:solidFill>
                  <a:srgbClr val="188038"/>
                </a:solidFill>
              </a:rPr>
              <a:t>164931005</a:t>
            </a:r>
            <a:r>
              <a:rPr lang="pl" sz="1600">
                <a:solidFill>
                  <a:schemeClr val="dk1"/>
                </a:solidFill>
              </a:rPr>
              <a:t>) has only 220 samples—a ratio exceeding 8.4x.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600">
                <a:solidFill>
                  <a:schemeClr val="dk1"/>
                </a:solidFill>
              </a:rPr>
              <a:t>Clinical Significance of Codes: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l" sz="1600">
                <a:solidFill>
                  <a:srgbClr val="188038"/>
                </a:solidFill>
              </a:rPr>
              <a:t>426783006</a:t>
            </a:r>
            <a:r>
              <a:rPr lang="pl" sz="1600">
                <a:solidFill>
                  <a:schemeClr val="dk1"/>
                </a:solidFill>
              </a:rPr>
              <a:t>: Normal Sinus Rhythm (NSR) — the </a:t>
            </a:r>
            <a:r>
              <a:rPr i="1" lang="pl" sz="1600">
                <a:solidFill>
                  <a:schemeClr val="dk1"/>
                </a:solidFill>
              </a:rPr>
              <a:t>only</a:t>
            </a:r>
            <a:r>
              <a:rPr lang="pl" sz="1600">
                <a:solidFill>
                  <a:schemeClr val="dk1"/>
                </a:solidFill>
              </a:rPr>
              <a:t> healthy control class in the dataset.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l" sz="1600">
                <a:solidFill>
                  <a:schemeClr val="dk1"/>
                </a:solidFill>
              </a:rPr>
              <a:t>All other 8 codes represent critical cardiac conditions (e.g., Atrial Fibrillation, Bundle Branch Blocks, ST Changes).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600">
                <a:solidFill>
                  <a:schemeClr val="dk1"/>
                </a:solidFill>
              </a:rPr>
              <a:t>Algorithmic Challenge:</a:t>
            </a:r>
            <a:r>
              <a:rPr lang="pl" sz="1600">
                <a:solidFill>
                  <a:schemeClr val="dk1"/>
                </a:solidFill>
              </a:rPr>
              <a:t> Standard training without intervention would bias the model toward dominant classes, ignoring rare but life-threatening pathologies.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962" y="132025"/>
            <a:ext cx="6395826" cy="474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500" y="0"/>
            <a:ext cx="6107801" cy="295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425" y="2951422"/>
            <a:ext cx="6239874" cy="20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1D ECG to 2D Spectrogram Transformation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017725"/>
            <a:ext cx="8671800" cy="39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l" sz="1500">
                <a:solidFill>
                  <a:schemeClr val="dk1"/>
                </a:solidFill>
              </a:rPr>
              <a:t>Methodology:</a:t>
            </a:r>
            <a:r>
              <a:rPr lang="pl" sz="1500">
                <a:solidFill>
                  <a:schemeClr val="dk1"/>
                </a:solidFill>
              </a:rPr>
              <a:t> Converts 1D raw voltage time-series data into a 2D time-frequency representation using Short-Time Fourier Transform (STFT).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l" sz="1500">
                <a:solidFill>
                  <a:schemeClr val="dk1"/>
                </a:solidFill>
              </a:rPr>
              <a:t>Feature Extraction:</a:t>
            </a:r>
            <a:r>
              <a:rPr lang="pl" sz="1500">
                <a:solidFill>
                  <a:schemeClr val="dk1"/>
                </a:solidFill>
              </a:rPr>
              <a:t> While 1D signals only show voltage over time, a 2D spectrogram simultaneously exposes temporal structures and hidden frequency patterns (e.g., rapid energy bursts of heartbeats).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l" sz="1500">
                <a:solidFill>
                  <a:schemeClr val="dk1"/>
                </a:solidFill>
              </a:rPr>
              <a:t>Computer Vision Approach:</a:t>
            </a:r>
            <a:r>
              <a:rPr lang="pl" sz="1500">
                <a:solidFill>
                  <a:schemeClr val="dk1"/>
                </a:solidFill>
              </a:rPr>
              <a:t> Transforms a complex signal-processing task into an image classification problem. This allows Deep Learning models (like 2D-CNNs) to recognize distinct geometric shapes and color distributions.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500">
                <a:solidFill>
                  <a:schemeClr val="dk1"/>
                </a:solidFill>
              </a:rPr>
              <a:t>Multi-Lead Integration:</a:t>
            </a:r>
            <a:r>
              <a:rPr lang="pl" sz="1500">
                <a:solidFill>
                  <a:schemeClr val="dk1"/>
                </a:solidFill>
              </a:rPr>
              <a:t> Each of the 12 denoised ECG leads is transformed into an individual spectrogram. These are later stacked or concatenated to preserve the multi-angle clinical view of the heart.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414338"/>
            <a:ext cx="807720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Preprocessing &amp; Hyperparameter Pipeline</a:t>
            </a:r>
            <a:endParaRPr sz="2500"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chemeClr val="dk1"/>
                </a:solidFill>
              </a:rPr>
              <a:t>Multi-label Target Binarization:</a:t>
            </a:r>
            <a:r>
              <a:rPr lang="pl" sz="1400">
                <a:solidFill>
                  <a:schemeClr val="dk1"/>
                </a:solidFill>
              </a:rPr>
              <a:t> Converted multi-diagnosis text notes into a structured array of binary labels using scikit-learn's </a:t>
            </a:r>
            <a:r>
              <a:rPr lang="pl" sz="1400">
                <a:solidFill>
                  <a:srgbClr val="188038"/>
                </a:solidFill>
              </a:rPr>
              <a:t>MultilabelBinarizer</a:t>
            </a:r>
            <a:r>
              <a:rPr lang="pl" sz="1400">
                <a:solidFill>
                  <a:schemeClr val="dk1"/>
                </a:solidFill>
              </a:rPr>
              <a:t> to reflect the multi-label, multi-output classification nature of the task.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chemeClr val="dk1"/>
                </a:solidFill>
              </a:rPr>
              <a:t>Noise Suppression:</a:t>
            </a:r>
            <a:r>
              <a:rPr lang="pl" sz="1400">
                <a:solidFill>
                  <a:schemeClr val="dk1"/>
                </a:solidFill>
              </a:rPr>
              <a:t> Applied pre-processing filters to raw 1D signals to reduce artifacts and clinical noise before computing the time-frequency representations.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400">
                <a:solidFill>
                  <a:schemeClr val="dk1"/>
                </a:solidFill>
              </a:rPr>
              <a:t>Pipeline Tuning Variables (Hyperparameters):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l" sz="1400">
                <a:solidFill>
                  <a:srgbClr val="188038"/>
                </a:solidFill>
              </a:rPr>
              <a:t>nperseg</a:t>
            </a:r>
            <a:r>
              <a:rPr lang="pl" sz="1400">
                <a:solidFill>
                  <a:schemeClr val="dk1"/>
                </a:solidFill>
              </a:rPr>
              <a:t>: Defines the segment length during Short-Time Fourier Transform generation.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l" sz="1400">
                <a:solidFill>
                  <a:srgbClr val="188038"/>
                </a:solidFill>
              </a:rPr>
              <a:t>length_cap</a:t>
            </a:r>
            <a:r>
              <a:rPr lang="pl" sz="1400">
                <a:solidFill>
                  <a:schemeClr val="dk1"/>
                </a:solidFill>
              </a:rPr>
              <a:t>: Minimum duration boundary in seconds (shorter patient samples are automatically discarded).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l" sz="1400">
                <a:solidFill>
                  <a:srgbClr val="188038"/>
                </a:solidFill>
              </a:rPr>
              <a:t>split_extra_samples</a:t>
            </a:r>
            <a:r>
              <a:rPr lang="pl" sz="1400">
                <a:solidFill>
                  <a:schemeClr val="dk1"/>
                </a:solidFill>
              </a:rPr>
              <a:t>: Segmenting longer recordings into equal blocks to artificially expand instances of rare labels.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/>
              <a:t>Troubleshooting &amp; The Learning Breakthrough (</a:t>
            </a:r>
            <a:r>
              <a:rPr lang="pl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nperseg</a:t>
            </a:r>
            <a:r>
              <a:rPr lang="pl" sz="2400"/>
              <a:t>)</a:t>
            </a:r>
            <a:endParaRPr sz="2400"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Core Crisis:</a:t>
            </a:r>
            <a:r>
              <a:rPr lang="pl" sz="1600">
                <a:solidFill>
                  <a:schemeClr val="dk1"/>
                </a:solidFill>
              </a:rPr>
              <a:t> Initial 2D-CNN training iterations completely failed. The loss function stagnated, and the models returned zero predictions for uncommon cardiac categories.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Root Cause (Temporal Blur):</a:t>
            </a:r>
            <a:r>
              <a:rPr lang="pl" sz="1600">
                <a:solidFill>
                  <a:schemeClr val="dk1"/>
                </a:solidFill>
              </a:rPr>
              <a:t> Default spectrogram parameters utilized a high </a:t>
            </a:r>
            <a:r>
              <a:rPr lang="pl" sz="1600">
                <a:solidFill>
                  <a:srgbClr val="188038"/>
                </a:solidFill>
              </a:rPr>
              <a:t>nperseg</a:t>
            </a:r>
            <a:r>
              <a:rPr lang="pl" sz="1600">
                <a:solidFill>
                  <a:schemeClr val="dk1"/>
                </a:solidFill>
              </a:rPr>
              <a:t> window (128 or 256). This blurred rapid, transient events like the </a:t>
            </a:r>
            <a:r>
              <a:rPr b="1" lang="pl" sz="1600">
                <a:solidFill>
                  <a:schemeClr val="dk1"/>
                </a:solidFill>
              </a:rPr>
              <a:t>QRS complex</a:t>
            </a:r>
            <a:r>
              <a:rPr lang="pl" sz="1600">
                <a:solidFill>
                  <a:schemeClr val="dk1"/>
                </a:solidFill>
              </a:rPr>
              <a:t> (heartbeats lasting only ~80-120 ms), making patterns unreadable for CNN layers.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Technical Solution:</a:t>
            </a:r>
            <a:r>
              <a:rPr lang="pl" sz="1600">
                <a:solidFill>
                  <a:schemeClr val="dk1"/>
                </a:solidFill>
              </a:rPr>
              <a:t> Drastically reduced </a:t>
            </a:r>
            <a:r>
              <a:rPr lang="pl" sz="1600">
                <a:solidFill>
                  <a:srgbClr val="188038"/>
                </a:solidFill>
              </a:rPr>
              <a:t>nperseg</a:t>
            </a:r>
            <a:r>
              <a:rPr lang="pl" sz="1600">
                <a:solidFill>
                  <a:schemeClr val="dk1"/>
                </a:solidFill>
              </a:rPr>
              <a:t> to </a:t>
            </a:r>
            <a:r>
              <a:rPr b="1" lang="pl" sz="1600">
                <a:solidFill>
                  <a:schemeClr val="dk1"/>
                </a:solidFill>
              </a:rPr>
              <a:t>64</a:t>
            </a:r>
            <a:r>
              <a:rPr lang="pl" sz="1600">
                <a:solidFill>
                  <a:schemeClr val="dk1"/>
                </a:solidFill>
              </a:rPr>
              <a:t> and subsequently </a:t>
            </a:r>
            <a:r>
              <a:rPr b="1" lang="pl" sz="1600">
                <a:solidFill>
                  <a:schemeClr val="dk1"/>
                </a:solidFill>
              </a:rPr>
              <a:t>32</a:t>
            </a:r>
            <a:r>
              <a:rPr lang="pl" sz="1600">
                <a:solidFill>
                  <a:schemeClr val="dk1"/>
                </a:solidFill>
              </a:rPr>
              <a:t> during the STFT generation stage.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pl" sz="1600">
                <a:solidFill>
                  <a:schemeClr val="dk1"/>
                </a:solidFill>
              </a:rPr>
              <a:t>The Result:</a:t>
            </a:r>
            <a:r>
              <a:rPr lang="pl" sz="1600">
                <a:solidFill>
                  <a:schemeClr val="dk1"/>
                </a:solidFill>
              </a:rPr>
              <a:t> Sacrificing minor frequency granularity unlocked </a:t>
            </a:r>
            <a:r>
              <a:rPr b="1" lang="pl" sz="1600">
                <a:solidFill>
                  <a:schemeClr val="dk1"/>
                </a:solidFill>
              </a:rPr>
              <a:t>ultra-high temporal resolution</a:t>
            </a:r>
            <a:r>
              <a:rPr lang="pl" sz="1600">
                <a:solidFill>
                  <a:schemeClr val="dk1"/>
                </a:solidFill>
              </a:rPr>
              <a:t>, allowing the models to isolate distinct heartbeat morphology and successfully converge.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Preprocessed Datasets &amp; Custom Oversampling</a:t>
            </a:r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chemeClr val="dk1"/>
                </a:solidFill>
              </a:rPr>
              <a:t>SMOTE Rejection:</a:t>
            </a:r>
            <a:r>
              <a:rPr lang="pl" sz="1400">
                <a:solidFill>
                  <a:schemeClr val="dk1"/>
                </a:solidFill>
              </a:rPr>
              <a:t> Initial attempts to use standard SMOTE were abandoned because it does not function well with multi-label, multi-output targets due to complex label co-occurrences.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400">
                <a:solidFill>
                  <a:schemeClr val="dk1"/>
                </a:solidFill>
              </a:rPr>
              <a:t>Baseline vs. Optimized Datasets: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pl" sz="1400">
                <a:solidFill>
                  <a:schemeClr val="dk1"/>
                </a:solidFill>
              </a:rPr>
              <a:t>precomputed-256:</a:t>
            </a:r>
            <a:r>
              <a:rPr lang="pl" sz="1400">
                <a:solidFill>
                  <a:schemeClr val="dk1"/>
                </a:solidFill>
              </a:rPr>
              <a:t> Replicated initial flawed conditions (</a:t>
            </a:r>
            <a:r>
              <a:rPr lang="pl" sz="1400">
                <a:solidFill>
                  <a:srgbClr val="188038"/>
                </a:solidFill>
              </a:rPr>
              <a:t>nperseg = 256</a:t>
            </a:r>
            <a:r>
              <a:rPr lang="pl" sz="1400">
                <a:solidFill>
                  <a:schemeClr val="dk1"/>
                </a:solidFill>
              </a:rPr>
              <a:t>, 6-second cap).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pl" sz="1400">
                <a:solidFill>
                  <a:schemeClr val="dk1"/>
                </a:solidFill>
              </a:rPr>
              <a:t>precomputed:</a:t>
            </a:r>
            <a:r>
              <a:rPr lang="pl" sz="1400">
                <a:solidFill>
                  <a:schemeClr val="dk1"/>
                </a:solidFill>
              </a:rPr>
              <a:t> Core optimized baseline dataset using </a:t>
            </a:r>
            <a:r>
              <a:rPr lang="pl" sz="1400">
                <a:solidFill>
                  <a:srgbClr val="188038"/>
                </a:solidFill>
              </a:rPr>
              <a:t>nperseg = 32</a:t>
            </a:r>
            <a:r>
              <a:rPr lang="pl" sz="1400">
                <a:solidFill>
                  <a:schemeClr val="dk1"/>
                </a:solidFill>
              </a:rPr>
              <a:t> and a 6-second cap.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400">
                <a:solidFill>
                  <a:schemeClr val="dk1"/>
                </a:solidFill>
              </a:rPr>
              <a:t>Signal Slicing for Class Imbalance (Oversampling V1 vs. V2):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l" sz="1400">
                <a:solidFill>
                  <a:schemeClr val="dk1"/>
                </a:solidFill>
              </a:rPr>
              <a:t>To fix poor detection rates, records longer than the cap were segmented into multiple valid chunks and added back as artificial training entries.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pl" sz="1400">
                <a:solidFill>
                  <a:schemeClr val="dk1"/>
                </a:solidFill>
              </a:rPr>
              <a:t>Oversampling V1:</a:t>
            </a:r>
            <a:r>
              <a:rPr lang="pl" sz="1400">
                <a:solidFill>
                  <a:schemeClr val="dk1"/>
                </a:solidFill>
              </a:rPr>
              <a:t> Targeted rare classes (</a:t>
            </a:r>
            <a:r>
              <a:rPr lang="pl" sz="1400">
                <a:solidFill>
                  <a:srgbClr val="188038"/>
                </a:solidFill>
              </a:rPr>
              <a:t>164931005</a:t>
            </a:r>
            <a:r>
              <a:rPr lang="pl" sz="1400">
                <a:solidFill>
                  <a:schemeClr val="dk1"/>
                </a:solidFill>
              </a:rPr>
              <a:t>, </a:t>
            </a:r>
            <a:r>
              <a:rPr lang="pl" sz="1400">
                <a:solidFill>
                  <a:srgbClr val="188038"/>
                </a:solidFill>
              </a:rPr>
              <a:t>426783006</a:t>
            </a:r>
            <a:r>
              <a:rPr lang="pl" sz="1400">
                <a:solidFill>
                  <a:schemeClr val="dk1"/>
                </a:solidFill>
              </a:rPr>
              <a:t>, </a:t>
            </a:r>
            <a:r>
              <a:rPr lang="pl" sz="1400">
                <a:solidFill>
                  <a:srgbClr val="188038"/>
                </a:solidFill>
              </a:rPr>
              <a:t>429622005</a:t>
            </a:r>
            <a:r>
              <a:rPr lang="pl" sz="1400">
                <a:solidFill>
                  <a:schemeClr val="dk1"/>
                </a:solidFill>
              </a:rPr>
              <a:t>, and accidentally </a:t>
            </a:r>
            <a:r>
              <a:rPr lang="pl" sz="1400">
                <a:solidFill>
                  <a:srgbClr val="188038"/>
                </a:solidFill>
              </a:rPr>
              <a:t>270492004</a:t>
            </a:r>
            <a:r>
              <a:rPr lang="pl" sz="1400">
                <a:solidFill>
                  <a:schemeClr val="dk1"/>
                </a:solidFill>
              </a:rPr>
              <a:t>) which led to a performance jump.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pl" sz="1400">
                <a:solidFill>
                  <a:schemeClr val="dk1"/>
                </a:solidFill>
              </a:rPr>
              <a:t>Oversampling V2:</a:t>
            </a:r>
            <a:r>
              <a:rPr lang="pl" sz="1400">
                <a:solidFill>
                  <a:schemeClr val="dk1"/>
                </a:solidFill>
              </a:rPr>
              <a:t> Attempted to fix the targeted classes properly but yielded strictly worse performance; hence V1 was kept.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2400"/>
              <a:t>Training Pipeline &amp; Evaluated Classifiers</a:t>
            </a:r>
            <a:endParaRPr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Data Partitioning:</a:t>
            </a:r>
            <a:r>
              <a:rPr lang="pl" sz="1300">
                <a:solidFill>
                  <a:schemeClr val="dk1"/>
                </a:solidFill>
              </a:rPr>
              <a:t> The dataset was divided into a training-validation subset and a completely separate holdout test set using a multi-label stratified split to preserve identical diagnosis proportions.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1. Support Vector Machine (SVM) Baseline: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l" sz="1300">
                <a:solidFill>
                  <a:schemeClr val="dk1"/>
                </a:solidFill>
              </a:rPr>
              <a:t>Cannot directly process 2D images; required flattening the 12 spectrograms into a single 1D vector per patient.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l" sz="1300">
                <a:solidFill>
                  <a:schemeClr val="dk1"/>
                </a:solidFill>
              </a:rPr>
              <a:t>Suffered from optimization and convergence struggles due to the extremely high-dimensional flattened vector space.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2. Custom 2D Convolutional Neural Network (2D-CNN):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l" sz="1300">
                <a:solidFill>
                  <a:schemeClr val="dk1"/>
                </a:solidFill>
              </a:rPr>
              <a:t>Treated the stacked multi-lead spectrograms directly as image inputs.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l" sz="1300">
                <a:solidFill>
                  <a:schemeClr val="dk1"/>
                </a:solidFill>
              </a:rPr>
              <a:t>Configured to extract local, spatial-temporal features and patterns from the multi-channel tensor.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3. Deeper Architectures (ResNet-18 &amp; CNN-LSTM):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l" sz="1300">
                <a:solidFill>
                  <a:schemeClr val="dk1"/>
                </a:solidFill>
              </a:rPr>
              <a:t>Tested to evaluate whether deep residual mapping or temporal recurrence could improve performance over the simpler CNN baseline.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Multi-Label Evaluation Metrics</a:t>
            </a:r>
            <a:endParaRPr/>
          </a:p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The Multi-Label Complexity:</a:t>
            </a:r>
            <a:r>
              <a:rPr lang="pl" sz="1300">
                <a:solidFill>
                  <a:schemeClr val="dk1"/>
                </a:solidFill>
              </a:rPr>
              <a:t> Since each patient can present multiple cardiac diagnoses simultaneously, standard accuracy is an invalid metric. Performance must be tracked across the entire label matrix.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Strict Evaluation Standards: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pl" sz="1300">
                <a:solidFill>
                  <a:schemeClr val="dk1"/>
                </a:solidFill>
              </a:rPr>
              <a:t>Subset Accuracy:</a:t>
            </a:r>
            <a:r>
              <a:rPr lang="pl" sz="1300">
                <a:solidFill>
                  <a:schemeClr val="dk1"/>
                </a:solidFill>
              </a:rPr>
              <a:t> The strictest metric; counts a prediction as correct </a:t>
            </a:r>
            <a:r>
              <a:rPr i="1" lang="pl" sz="1300">
                <a:solidFill>
                  <a:schemeClr val="dk1"/>
                </a:solidFill>
              </a:rPr>
              <a:t>only</a:t>
            </a:r>
            <a:r>
              <a:rPr lang="pl" sz="1300">
                <a:solidFill>
                  <a:schemeClr val="dk1"/>
                </a:solidFill>
              </a:rPr>
              <a:t> if the entire set of predicted labels perfectly matches the true label set.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pl" sz="1300">
                <a:solidFill>
                  <a:schemeClr val="dk1"/>
                </a:solidFill>
              </a:rPr>
              <a:t>Hamming Score / Loss:</a:t>
            </a:r>
            <a:r>
              <a:rPr lang="pl" sz="1300">
                <a:solidFill>
                  <a:schemeClr val="dk1"/>
                </a:solidFill>
              </a:rPr>
              <a:t> Measures the fraction of individual correct binary decisions across all labels.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Averaging Paradigms for Class Imbalance: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pl" sz="1300">
                <a:solidFill>
                  <a:schemeClr val="dk1"/>
                </a:solidFill>
              </a:rPr>
              <a:t>Macro F1 Score:</a:t>
            </a:r>
            <a:r>
              <a:rPr lang="pl" sz="1300">
                <a:solidFill>
                  <a:schemeClr val="dk1"/>
                </a:solidFill>
              </a:rPr>
              <a:t> Calculates the F1 score independently for each of the 9 classes and then averages them. Crucial because it gives equal weight to rare diagnoses.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pl" sz="1300">
                <a:solidFill>
                  <a:schemeClr val="dk1"/>
                </a:solidFill>
              </a:rPr>
              <a:t>Micro F1 Score:</a:t>
            </a:r>
            <a:r>
              <a:rPr lang="pl" sz="1300">
                <a:solidFill>
                  <a:schemeClr val="dk1"/>
                </a:solidFill>
              </a:rPr>
              <a:t> Computes the F1 score globally by counting total true positives, false negatives, and false positives across all categories.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pl" sz="1300">
                <a:solidFill>
                  <a:schemeClr val="dk1"/>
                </a:solidFill>
              </a:rPr>
              <a:t>Samples F1 &amp; Jaccard Score:</a:t>
            </a:r>
            <a:r>
              <a:rPr lang="pl" sz="1300">
                <a:solidFill>
                  <a:schemeClr val="dk1"/>
                </a:solidFill>
              </a:rPr>
              <a:t> Evaluates overlapping precision and recall directly at the individual patient level.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Training and Experimentation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Failed Training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oogle Shape;134;p27"/>
          <p:cNvGraphicFramePr/>
          <p:nvPr/>
        </p:nvGraphicFramePr>
        <p:xfrm>
          <a:off x="5343525" y="403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{3E6EC284-F4D4-49F0-857B-E200EED11F79}</a:tableStyleId>
              </a:tblPr>
              <a:tblGrid>
                <a:gridCol w="1847850"/>
                <a:gridCol w="1952625"/>
              </a:tblGrid>
              <a:tr h="22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Experiment Name</a:t>
                      </a:r>
                      <a:endParaRPr b="1"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cnn_nperseg256</a:t>
                      </a:r>
                      <a:endParaRPr b="1"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dataset</a:t>
                      </a:r>
                      <a:endParaRPr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precomputed-256</a:t>
                      </a:r>
                      <a:endParaRPr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Model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2d-CNN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Variant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default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iterations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10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5" name="Google Shape;1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1388"/>
            <a:ext cx="4266601" cy="21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1787" y="1521386"/>
            <a:ext cx="4772214" cy="21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800"/>
              <a:t>Nperseg 256 - General Performance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800"/>
              <a:t>Nperseg 256 - Confusion Matrix</a:t>
            </a:r>
            <a:endParaRPr/>
          </a:p>
        </p:txBody>
      </p:sp>
      <p:pic>
        <p:nvPicPr>
          <p:cNvPr id="143" name="Google Shape;1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575" y="1017725"/>
            <a:ext cx="4898849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Multioutput Classifier - SVM Kernel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l"/>
              <a:t>SVM - General Results</a:t>
            </a:r>
            <a:r>
              <a:rPr lang="pl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54212"/>
            <a:ext cx="4138875" cy="20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634060"/>
            <a:ext cx="4260300" cy="18753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30"/>
          <p:cNvGraphicFramePr/>
          <p:nvPr/>
        </p:nvGraphicFramePr>
        <p:xfrm>
          <a:off x="5343525" y="400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{3E6EC284-F4D4-49F0-857B-E200EED11F79}</a:tableStyleId>
              </a:tblPr>
              <a:tblGrid>
                <a:gridCol w="1847850"/>
                <a:gridCol w="1952625"/>
              </a:tblGrid>
              <a:tr h="10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Experiment Name</a:t>
                      </a:r>
                      <a:endParaRPr b="1"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svm-default-l6-oversample</a:t>
                      </a:r>
                      <a:endParaRPr b="1"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dataset</a:t>
                      </a:r>
                      <a:endParaRPr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precomputed-split-gen-length-6-old</a:t>
                      </a:r>
                      <a:endParaRPr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Model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SVM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Variant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default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iterations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auto - controlled by scikit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l"/>
              <a:t>SVM - Confusion Matrix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338" y="1017725"/>
            <a:ext cx="4211326" cy="35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SVM - Summary</a:t>
            </a:r>
            <a:endParaRPr/>
          </a:p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1152475"/>
            <a:ext cx="8520600" cy="39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Scikit-learn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Slow training speed - CPU Only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CPU training slower than keras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Convergence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Longer datasets - exponential training time, worse performance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Poor overall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pl"/>
            </a:b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2D </a:t>
            </a:r>
            <a:r>
              <a:rPr lang="pl"/>
              <a:t>- Convolutional Neural Network</a:t>
            </a:r>
            <a:endParaRPr/>
          </a:p>
        </p:txBody>
      </p:sp>
      <p:sp>
        <p:nvSpPr>
          <p:cNvPr id="175" name="Google Shape;175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ResNet18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2D - CNN (ResNet18) - General Results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75" y="1598525"/>
            <a:ext cx="3960000" cy="1946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635175"/>
            <a:ext cx="4258799" cy="1873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4" name="Google Shape;184;p34"/>
          <p:cNvGraphicFramePr/>
          <p:nvPr/>
        </p:nvGraphicFramePr>
        <p:xfrm>
          <a:off x="5343525" y="38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{3E6EC284-F4D4-49F0-857B-E200EED11F79}</a:tableStyleId>
              </a:tblPr>
              <a:tblGrid>
                <a:gridCol w="1847850"/>
                <a:gridCol w="1952625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Experiment Name</a:t>
                      </a:r>
                      <a:endParaRPr b="1"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resnet18-l10-oversample</a:t>
                      </a:r>
                      <a:endParaRPr b="1"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dataset</a:t>
                      </a:r>
                      <a:endParaRPr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precomputedsplit-genlength-10</a:t>
                      </a:r>
                      <a:endParaRPr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Model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2d-CNN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Variant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resnet18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iterations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20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2D - CNN (ResNet18) -</a:t>
            </a:r>
            <a:r>
              <a:rPr lang="pl"/>
              <a:t> Confusion Matrix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300" y="1017725"/>
            <a:ext cx="4725407" cy="397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2D - CNN (ResNet18) -</a:t>
            </a:r>
            <a:r>
              <a:rPr lang="pl"/>
              <a:t> Summary</a:t>
            </a:r>
            <a:endParaRPr/>
          </a:p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>
            <a:off x="311700" y="1152475"/>
            <a:ext cx="8520600" cy="39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Low count of matches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High precision for true positives, low false positives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Minimized loss function effectively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Very poor full-match subset accuracy with default threshold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Very </a:t>
            </a:r>
            <a:r>
              <a:rPr lang="pl"/>
              <a:t>slow training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Tuning binary match thresholds might improve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pl"/>
            </a:b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2D - Convolutional Neural Network</a:t>
            </a:r>
            <a:endParaRPr/>
          </a:p>
        </p:txBody>
      </p:sp>
      <p:sp>
        <p:nvSpPr>
          <p:cNvPr id="202" name="Google Shape;202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Custom Design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2D - CNN (Custom) - General Results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9" name="Google Shape;209;p38"/>
          <p:cNvGraphicFramePr/>
          <p:nvPr/>
        </p:nvGraphicFramePr>
        <p:xfrm>
          <a:off x="5343525" y="419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{3E6EC284-F4D4-49F0-857B-E200EED11F79}</a:tableStyleId>
              </a:tblPr>
              <a:tblGrid>
                <a:gridCol w="1847850"/>
                <a:gridCol w="1952625"/>
              </a:tblGrid>
              <a:tr h="12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Experiment Name</a:t>
                      </a:r>
                      <a:endParaRPr b="1"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cnn_nperseg_32</a:t>
                      </a:r>
                      <a:endParaRPr b="1"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dataset</a:t>
                      </a:r>
                      <a:endParaRPr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precomputed</a:t>
                      </a:r>
                      <a:endParaRPr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Model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2d-CNN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Variant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default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iterations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20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0" name="Google Shape;21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55325"/>
            <a:ext cx="4134401" cy="203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610375"/>
            <a:ext cx="4367949" cy="192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2D - CNN </a:t>
            </a:r>
            <a:r>
              <a:rPr lang="pl"/>
              <a:t>(Custom)</a:t>
            </a:r>
            <a:r>
              <a:rPr lang="pl"/>
              <a:t> - Confusion Matrix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3875" y="1017722"/>
            <a:ext cx="4536225" cy="382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2D - CNN </a:t>
            </a:r>
            <a:r>
              <a:rPr lang="pl"/>
              <a:t>(Custom)</a:t>
            </a:r>
            <a:r>
              <a:rPr lang="pl"/>
              <a:t> - Summary</a:t>
            </a:r>
            <a:endParaRPr/>
          </a:p>
        </p:txBody>
      </p:sp>
      <p:sp>
        <p:nvSpPr>
          <p:cNvPr id="223" name="Google Shape;223;p40"/>
          <p:cNvSpPr txBox="1"/>
          <p:nvPr>
            <p:ph idx="1" type="body"/>
          </p:nvPr>
        </p:nvSpPr>
        <p:spPr>
          <a:xfrm>
            <a:off x="311700" y="1152475"/>
            <a:ext cx="8520600" cy="39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Promising initial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Fast training, with full GPU acceleration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Overfitting present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Poor precision for uncommon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Mediocre 50/50 accuracy for half of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Decent overall subset accuracy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Further developed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pl"/>
            </a:b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Improving the 2D-CNN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Oversampling - Length 10 - General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4" name="Google Shape;234;p42"/>
          <p:cNvGraphicFramePr/>
          <p:nvPr/>
        </p:nvGraphicFramePr>
        <p:xfrm>
          <a:off x="5343525" y="38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{3E6EC284-F4D4-49F0-857B-E200EED11F79}</a:tableStyleId>
              </a:tblPr>
              <a:tblGrid>
                <a:gridCol w="1847850"/>
                <a:gridCol w="1952625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Experiment Name</a:t>
                      </a:r>
                      <a:endParaRPr b="1"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cnn-oversample-l10</a:t>
                      </a:r>
                      <a:endParaRPr b="1"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dataset</a:t>
                      </a:r>
                      <a:endParaRPr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precomputedsplit-genlength-10</a:t>
                      </a:r>
                      <a:endParaRPr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Model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2d-CNN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Variant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default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iterations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20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35" name="Google Shape;23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50" y="1495275"/>
            <a:ext cx="4378650" cy="21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600738"/>
            <a:ext cx="4378650" cy="194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Oversampling - Length 10 - Confusion Matrix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575" y="1017725"/>
            <a:ext cx="4898849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Oversampling - Length 10</a:t>
            </a:r>
            <a:r>
              <a:rPr lang="pl"/>
              <a:t> - Summary</a:t>
            </a:r>
            <a:endParaRPr/>
          </a:p>
        </p:txBody>
      </p:sp>
      <p:sp>
        <p:nvSpPr>
          <p:cNvPr id="248" name="Google Shape;248;p44"/>
          <p:cNvSpPr txBox="1"/>
          <p:nvPr>
            <p:ph idx="1" type="body"/>
          </p:nvPr>
        </p:nvSpPr>
        <p:spPr>
          <a:xfrm>
            <a:off x="311700" y="1152475"/>
            <a:ext cx="8520600" cy="39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Performance improvements </a:t>
            </a:r>
            <a:r>
              <a:rPr lang="pl"/>
              <a:t>compound - higher than individual optimizations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Training speed slower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Oversampling improved precision, but recall is still poor for underrepresented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Oversampling 284470004 worsens performance for all other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Increasing length has negative impact on recall, but positive on precision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pl"/>
            </a:b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LSTM Layers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LSTM - Dimensional</a:t>
            </a:r>
            <a:r>
              <a:rPr lang="pl"/>
              <a:t> - General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9" name="Google Shape;259;p46"/>
          <p:cNvGraphicFramePr/>
          <p:nvPr/>
        </p:nvGraphicFramePr>
        <p:xfrm>
          <a:off x="5343525" y="368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{3E6EC284-F4D4-49F0-857B-E200EED11F79}</a:tableStyleId>
              </a:tblPr>
              <a:tblGrid>
                <a:gridCol w="1847850"/>
                <a:gridCol w="1952625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Experiment Name</a:t>
                      </a:r>
                      <a:endParaRPr b="1"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cnn-ltsm-l10-oversample-it25</a:t>
                      </a:r>
                      <a:endParaRPr b="1"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dataset</a:t>
                      </a:r>
                      <a:endParaRPr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precomputedsplit-genlength-10</a:t>
                      </a:r>
                      <a:endParaRPr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Model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2d-CNN (LTSM)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Variant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ltsm-time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iterations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25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60" name="Google Shape;26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96676"/>
            <a:ext cx="4372850" cy="215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2750" y="1538038"/>
            <a:ext cx="4661250" cy="206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LSTM - Dimensional</a:t>
            </a:r>
            <a:r>
              <a:rPr lang="pl"/>
              <a:t> - Confusion Matrix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575" y="1017725"/>
            <a:ext cx="4898849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LSTM - Dimensional</a:t>
            </a:r>
            <a:r>
              <a:rPr lang="pl"/>
              <a:t> - Summary</a:t>
            </a:r>
            <a:endParaRPr/>
          </a:p>
        </p:txBody>
      </p:sp>
      <p:sp>
        <p:nvSpPr>
          <p:cNvPr id="273" name="Google Shape;273;p48"/>
          <p:cNvSpPr txBox="1"/>
          <p:nvPr>
            <p:ph idx="1" type="body"/>
          </p:nvPr>
        </p:nvSpPr>
        <p:spPr>
          <a:xfrm>
            <a:off x="311700" y="1152475"/>
            <a:ext cx="8520600" cy="39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Very Slow training - necessitates CUDA Acceleration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Best Overall performance - Accuracy, Precision, Recall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Best performance for problem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More resistance to overfitting than standard 2D-CNN architecture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Less resistant to overfitting than temporal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~95% accuracy for individual labels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Quick improvement in training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pl"/>
            </a:b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LSTM - Temporal - General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9" name="Google Shape;279;p49"/>
          <p:cNvGraphicFramePr/>
          <p:nvPr/>
        </p:nvGraphicFramePr>
        <p:xfrm>
          <a:off x="5343525" y="36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{3E6EC284-F4D4-49F0-857B-E200EED11F79}</a:tableStyleId>
              </a:tblPr>
              <a:tblGrid>
                <a:gridCol w="1847850"/>
                <a:gridCol w="1952625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Experiment Name</a:t>
                      </a:r>
                      <a:endParaRPr b="1"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cnn-ltsm-time-l10-oversample-it25</a:t>
                      </a:r>
                      <a:endParaRPr b="1"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dataset</a:t>
                      </a:r>
                      <a:endParaRPr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precomputedsplit-genlength-10</a:t>
                      </a:r>
                      <a:endParaRPr sz="1100"/>
                    </a:p>
                  </a:txBody>
                  <a:tcPr marT="0" marB="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Model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2d-CNN (LSTM)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Variant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ltsm-time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iterations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/>
                        <a:t>25</a:t>
                      </a:r>
                      <a:endParaRPr sz="1100"/>
                    </a:p>
                  </a:txBody>
                  <a:tcPr marT="0" marB="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80" name="Google Shape;28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31415"/>
            <a:ext cx="4458550" cy="219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2691" y="1531425"/>
            <a:ext cx="4731309" cy="20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LSTM -  Temporal</a:t>
            </a:r>
            <a:r>
              <a:rPr lang="pl"/>
              <a:t>- Confusion Matrix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575" y="968875"/>
            <a:ext cx="4898849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LSTM - Temporal - Summary</a:t>
            </a:r>
            <a:endParaRPr/>
          </a:p>
        </p:txBody>
      </p:sp>
      <p:sp>
        <p:nvSpPr>
          <p:cNvPr id="293" name="Google Shape;293;p51"/>
          <p:cNvSpPr txBox="1"/>
          <p:nvPr>
            <p:ph idx="1" type="body"/>
          </p:nvPr>
        </p:nvSpPr>
        <p:spPr>
          <a:xfrm>
            <a:off x="311700" y="1152475"/>
            <a:ext cx="8520600" cy="39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Very Slow training - necessitates CUDA Acceleration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Comparable performance to dimensional LSTM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Worse performance than dimensional LSTM for low class representation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More resistance to overfitting than Temporal LSTM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Higher potential ceiling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pl"/>
            </a:b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Thank you for your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